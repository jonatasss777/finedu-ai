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F4E37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FinEdu</a:t>
            </a:r>
            <a:pPr indent="0" marL="0">
              <a:buNone/>
            </a:pPr>
            <a:r>
              <a:rPr lang="en-US" sz="54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6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Visão do Produto e Product Backlog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Análise e Projeto de Sistemas   •   Curso: Ciências da Computação   •   Sprint II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VISÃO DO PRODUTO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Educação financeira para quem troca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 por aposta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SMART:  </a:t>
            </a:r>
            <a:pPr indent="0" marL="0">
              <a:buNone/>
            </a:pPr>
            <a:r>
              <a:rPr lang="en-US" sz="15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em 25% o valor médio mensal declarado em apostas e levar 70% dos usuários ativos a concluir 3 trilhas educativas, em até 6 meses após o lançamento do MVP.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3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DCEBE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Público-alvo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9204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de 18 a 30 anos, universitários e early-career, com baixo letramento financeiro.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356616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3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3840480"/>
            <a:ext cx="502920" cy="502920"/>
          </a:xfrm>
          <a:prstGeom prst="ellipse">
            <a:avLst/>
          </a:prstGeom>
          <a:solidFill>
            <a:srgbClr val="DCEBE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resolve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89204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organização financeira e baixa percepção de risco em jogos de azar.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356616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3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840480"/>
            <a:ext cx="502920" cy="502920"/>
          </a:xfrm>
          <a:prstGeom prst="ellipse">
            <a:avLst/>
          </a:prstGeom>
          <a:solidFill>
            <a:srgbClr val="DCEBE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 esperado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89204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poupança e investimento, menos dinheiro perdido em apostas online.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PERSONAS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pessoas, um mesmo ponto de partida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4480560"/>
          </a:xfrm>
          <a:prstGeom prst="roundRect">
            <a:avLst>
              <a:gd name="adj" fmla="val 2611"/>
            </a:avLst>
          </a:prstGeom>
          <a:solidFill>
            <a:srgbClr val="F3F6F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Jonatas Andrade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04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Universitário de Computação, 24 anos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as finanças e aprender a investir.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3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apostou em esportes tentando complementar a renda.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9392" y="1600200"/>
            <a:ext cx="3502152" cy="4480560"/>
          </a:xfrm>
          <a:prstGeom prst="roundRect">
            <a:avLst>
              <a:gd name="adj" fmla="val 2611"/>
            </a:avLst>
          </a:prstGeom>
          <a:solidFill>
            <a:srgbClr val="F3F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3712" y="1920240"/>
            <a:ext cx="640080" cy="64008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3712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Camila Torres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2304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Autônoma (freelancer), 29 anos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28803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hábito de poupança com renda variável.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39776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3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reserva de emergência, insegura sobre onde investir.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10144" y="1600200"/>
            <a:ext cx="3502152" cy="4480560"/>
          </a:xfrm>
          <a:prstGeom prst="roundRect">
            <a:avLst>
              <a:gd name="adj" fmla="val 2611"/>
            </a:avLst>
          </a:prstGeom>
          <a:solidFill>
            <a:srgbClr val="F3F6F1"/>
          </a:solidFill>
          <a:ln/>
        </p:spPr>
      </p:sp>
      <p:sp>
        <p:nvSpPr>
          <p:cNvPr id="19" name="Shape 17"/>
          <p:cNvSpPr/>
          <p:nvPr/>
        </p:nvSpPr>
        <p:spPr>
          <a:xfrm>
            <a:off x="8284464" y="1920240"/>
            <a:ext cx="640080" cy="64008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4464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Rafael Souza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2304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técnico, 20 anos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28803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de apostar em cassinos online.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84464" y="39776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3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Perdeu parte da mesada apostando, sem perceber o risco real.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ESTRUTURA DE REQUISITOS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Épico → Funcionalidade → User Story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épicos organizam as 25 User Stories do backlog. Estrutura completa no documento de apoio.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2F6F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30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e Prototipação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2F6F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2130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 e Segurança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2F6F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2130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Financeiro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15400" y="196596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2F6F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98280" y="2130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Financeiras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2F6F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822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114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Simulador de Investimentos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365760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2F6F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20440" y="3822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4114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Conscientização sobre Jogos de Azar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2F6F4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3822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114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Educação Financeira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15400" y="365760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2F6F4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98280" y="3822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8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41148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Assistente de IA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 STORIES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ágil, cobrindo cada categoria exigida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DCEBE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55448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55448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Product Owner, quero um protótipo de alta fidelidade das telas, para validar o fluxo antes do desenvolvimento.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DCEBE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9572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Login/Autenticação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395728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395728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usuário cadastrado, quero acessar o sistema com e-mail e senha, para ver minhas informações financeiras.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DCEBE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3697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— uso de dados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3236976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US23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236976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usuário, quero conversar com um assistente de IA que usa meu perfil financeiro, para respostas personalizadas.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DCEB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7822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— explicabilidade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4078224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US24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07822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usuário, quero entender em que a IA se baseou para responder, para confiar mais na orientação recebida.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19472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DCEB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91947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514600" y="4919472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US08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491947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usuário, quero cadastrar receitas, despesas e investimentos, para acompanhar minha situação financeira.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7607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DCEBE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7607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576072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US18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576072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usuário, quero comparar quanto perderia apostando e quanto acumularia investindo, para decidir melhor.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PRODUCT BACKLOG PRIORITÁRIO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 com MoSCoW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F4E3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2F6F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cadastro, controle financeiro, metas, simulador, comparador aposta x investimento, conteúdo e 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F4E37"/>
          </a:solidFill>
          <a:ln/>
        </p:spPr>
      </p:sp>
      <p:sp>
        <p:nvSpPr>
          <p:cNvPr id="10" name="Shape 8"/>
          <p:cNvSpPr/>
          <p:nvPr/>
        </p:nvSpPr>
        <p:spPr>
          <a:xfrm>
            <a:off x="3593592" y="201168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C08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93592" y="2011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606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5204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Editar/excluir transações, atualizar senha, explicabilidade da IA, quiz, comparar tipos de investimento.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F4E37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9944" y="201168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7FB6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9944" y="2011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606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5204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Preferências de notificação, editar/excluir meta, métricas de uso do assistente.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97696" y="173736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F4E37"/>
          </a:solidFill>
          <a:ln/>
        </p:spPr>
      </p:sp>
      <p:sp>
        <p:nvSpPr>
          <p:cNvPr id="20" name="Shape 18"/>
          <p:cNvSpPr/>
          <p:nvPr/>
        </p:nvSpPr>
        <p:spPr>
          <a:xfrm>
            <a:off x="9226296" y="201168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B344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26296" y="2011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WON'T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606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5204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Corretora real, chat social, app mobile nativo e exportação de PDF assinado — fora do escopo do MVP.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ANÁLISE DE RISCOS E DESAFIOS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técnicos, legais e éticos do projeto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64792"/>
            <a:ext cx="960120" cy="512064"/>
          </a:xfrm>
          <a:prstGeom prst="roundRect">
            <a:avLst>
              <a:gd name="adj" fmla="val 50000"/>
            </a:avLst>
          </a:prstGeom>
          <a:solidFill>
            <a:srgbClr val="B344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64792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673352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local responder de forma incorreta ou genérica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673352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o prompt a temas financeiros e validar com curadoria especializada.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24912"/>
            <a:ext cx="960120" cy="512064"/>
          </a:xfrm>
          <a:prstGeom prst="roundRect">
            <a:avLst>
              <a:gd name="adj" fmla="val 50000"/>
            </a:avLst>
          </a:prstGeom>
          <a:solidFill>
            <a:srgbClr val="B344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24912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633472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de dados financeiros sensíveis (LGPD)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633472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criptografadas, HTTPS, controle de acesso por usuário.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85032"/>
            <a:ext cx="960120" cy="512064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685032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593592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Estigma no módulo de conscientização sobre apostas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593592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acolhedora, validada com apoio de saúde mental.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645152"/>
            <a:ext cx="960120" cy="512064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645152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53712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e abandono do aplicativo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553712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e notificações educativas para reter o usuário.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605272"/>
            <a:ext cx="960120" cy="512064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605272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5513832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 de APIs externas (BrAPI, Bacen)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5513832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 dos últimos dados e valores de fallback.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MODELAGEM DO BANCO DE DADOS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Entidades centrais do modelo relacional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2A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6459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6459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transacoes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459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16459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0" y="16459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simulacoes_investimento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063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comparativos_aposta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3063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3063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conteudos_educativos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063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3063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progresso_conteudo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5400" y="3063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52560" y="30632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quiz_perguntas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4805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quiz_opcoes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37560" y="44805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74720" y="44805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quiz_tentativas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44805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44805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chat_mensagens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15400" y="44805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F6F4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52560" y="44805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preferencias_usuario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entidade usuarios é o centro do modelo (1:N com quase todas as demais). Diagrama relacional completo, com chaves e cardinalidades, no documento de apoio.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1F4E37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6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FinEdu AI — Pare de apostar seu futuro. Comece a investir nele.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2026-09-25T10:27:04Z</dcterms:created>
  <dcterms:modified xsi:type="dcterms:W3CDTF">2026-09-25T10:27:04Z</dcterms:modified>
</cp:coreProperties>
</file>